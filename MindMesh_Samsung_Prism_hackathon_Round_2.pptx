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73" r:id="rId3"/>
    <p:sldId id="269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82" r:id="rId12"/>
    <p:sldId id="263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319FC9-859D-4B35-8FC6-65CD9E9B0A2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F35CE-723A-4E42-8C0C-0B8D22F2BF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53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1EC1D-D838-D3A2-EACF-23A54B29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28403-BD5E-AA3A-9279-4F5F05BDA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92647-3010-9D61-2E38-DAE42228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FD141-594A-6921-A391-760DF1CBC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74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781E5-166B-8030-CA6A-808AA8BB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AA48C-56FA-611F-E151-48B9D027C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9CC96-C1E9-2CC8-0646-F915635F9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8D19-552B-BF23-F22E-19F1F25BE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49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0AD8-8B5B-71E5-36BF-89433E00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BC219-6B36-CE4E-AF52-EF55163E8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6AFDF-3C37-B809-81FA-FEA784BB1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8956A-5C72-9E41-19A4-CCAB09EE2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7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2F5CE-33E7-6198-C86F-1DFA42FF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4E705-26A1-B265-2C10-20C03E658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D8ED2-80D9-EC47-F3C6-236291E60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E2A55-90E9-907A-FCD3-973A18E5C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26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C94BF-8ADA-426B-1B6B-08CF8B18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92322-B9B1-A991-6F1A-50CC8EF17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EE3E7-37D8-7C50-DDA3-F5608E570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1579B-C677-ECAB-EA6C-5EE6220F4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47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808F5-EF11-7F50-1104-D4D206EC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759F1-26CF-9F9A-0274-636DF441B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BC3F0-3CE0-D111-065A-C7EE97E60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00837-7791-9E5E-3507-BF6E35C48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29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AAE7-EEF2-F767-2674-3EA6DDC1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B417F-63BA-739C-F3C3-CC38D44BD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10032-B41E-27C1-272F-2933B6ACD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52A6C-BEC7-212B-60E4-A66DB791F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11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A7F22-6263-0B9E-8625-E220E87D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BBBB0-86CA-0E13-A5DC-AC92407D3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5613F-5BBC-3B28-0C74-DB0475B93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E7EED-7197-BBAA-2378-1DB0B4C6E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4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6682-BEEC-D174-1F95-956BE9288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FB904-5EB0-DF7A-887D-0682D3D45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3DEE2-859D-67B9-FA7B-28A51B76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DA50B-A1F3-15C0-C106-DAB563A9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8032B-4E3F-FAC4-B680-7AA61D55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0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90F1-3ABD-7176-F633-5C6F69F8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54992-2C1A-417F-828A-5CDD1E198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EC2F4-1C33-419E-8B05-AA6A5F0E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5B49-E08E-A11A-A3BB-54DA690F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6A1B-27FA-B87C-9B5C-B1D0D227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D0B7-E671-9FA8-6653-D340BAC4B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2E20E-F227-4296-2254-21B8A2F4B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E0EE-E13D-DC2A-8DE5-98D87D99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C1F06-98DE-F303-8314-673A1E6D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C723-1822-8866-D970-5AA12108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7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078E-232E-6BDD-7337-39E835AE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73056-12B6-64E4-69CE-C8DA590A7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58852-4715-5F49-F17F-A0837028C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E8EBC-0201-B596-625F-5BBD3137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C125B-9A85-77D0-86FD-12B9E2F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98B03-E16F-680A-5A97-13F34D44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87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272D-450E-8D0D-5E34-6DE5F444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9F8E9-9DDA-083A-9285-8E25F145F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3D01B-FA03-09B6-C74B-5D3B0BD0D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70F533-6B73-CA9F-36A9-8F7C5C211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C0B5FF-E978-C7BF-2819-D781C2EB3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A47CFB-C90B-B7F9-A723-B2C382A2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1518AD-B5C8-F30C-25B9-35E68EA3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9B269F-19F5-48BC-EF5A-B7534545F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90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6E3D-161A-06D5-6BBC-C72C19CC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4B43B-F2ED-C2BA-7999-C1699A5F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DC514-A98A-8AD8-981D-98CEAE1A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F407E-6273-A466-9015-87DDBDF5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1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CDE5F-EFEC-AB9D-FD79-F3230CC5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C0789-E978-BFB4-179D-CC29398A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47A67-9563-195B-E320-D2B49BBA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F244-09E7-11DA-29AE-C0E24FB8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0D06E-087F-6E6D-C9E5-82D9117F2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65010-B624-7985-7DE4-8023E3092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EE3DD-E39B-BCBB-96FF-469F8763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5F49C-1609-BEFB-CF8A-DFA6B323E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294A3-783D-A6A5-DFFC-26E93BFD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90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F5BE-0D82-AF1C-D7F2-23AAB62B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AF6DD-4343-8104-3DFE-A21B77462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F027F-80F5-5538-10EC-7F94FCD98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E4E6B-E734-0C32-594C-11DB79C6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A6037-4B4F-12AF-5E3E-F5EC5C3D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D0D09-ED94-2D2B-DAF6-64B73EDE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70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3288-D658-C20C-ED5F-8A0EC7B9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0ABE1-0CB4-0297-159E-590A7EABA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8905-766B-1FEE-384A-46AE2405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43E01-664B-FE28-E9A1-2D4A5784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EB936-B82C-972D-83AD-D0C2C3E9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98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BF4EDC-D6C4-DC38-A7E0-4AEA29608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F0444-1A6D-B990-C193-A8BD3D14C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B7735-54E3-A03D-F4F6-19BEDCA3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FD85E-ACB8-5921-0668-968D22B1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54CE4-1E33-956F-CD55-E60FBD5F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165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16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09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97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79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5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21A76-45F0-F136-C261-BB767CAE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F591A-FB2D-199F-42EC-7202DA61B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C514E-4BEA-F7B1-1FE1-30C191320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5CC01-9721-4763-8BE3-6C062DCA40F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7941F-64A7-AD12-045C-23A4106C2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EC162-B8BC-6CBF-60A7-9372095EE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6B866-4D28-457D-81DC-8383672D1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14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36D2FA-2278-2FA6-9D3A-F1C94BC310FF}"/>
              </a:ext>
            </a:extLst>
          </p:cNvPr>
          <p:cNvSpPr/>
          <p:nvPr/>
        </p:nvSpPr>
        <p:spPr>
          <a:xfrm>
            <a:off x="10730364" y="6455768"/>
            <a:ext cx="1429043" cy="3635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" name="Text 0"/>
          <p:cNvSpPr/>
          <p:nvPr/>
        </p:nvSpPr>
        <p:spPr>
          <a:xfrm>
            <a:off x="3048076" y="432515"/>
            <a:ext cx="69829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917">
                <a:solidFill>
                  <a:srgbClr val="F2F2F3"/>
                </a:solidFill>
                <a:latin typeface="Poppins Light"/>
                <a:ea typeface="Poppins Light" pitchFamily="34" charset="-122"/>
                <a:cs typeface="Poppins Light"/>
              </a:rPr>
              <a:t>Meet The Team - MINDMESH </a:t>
            </a:r>
            <a:endParaRPr lang="en-US" sz="3917"/>
          </a:p>
        </p:txBody>
      </p:sp>
      <p:sp>
        <p:nvSpPr>
          <p:cNvPr id="3" name="Shape 1"/>
          <p:cNvSpPr/>
          <p:nvPr/>
        </p:nvSpPr>
        <p:spPr>
          <a:xfrm>
            <a:off x="445768" y="1514165"/>
            <a:ext cx="3741371" cy="2414011"/>
          </a:xfrm>
          <a:prstGeom prst="roundRect">
            <a:avLst>
              <a:gd name="adj" fmla="val 683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4" name="Text 2"/>
          <p:cNvSpPr/>
          <p:nvPr/>
        </p:nvSpPr>
        <p:spPr>
          <a:xfrm>
            <a:off x="1184889" y="1673236"/>
            <a:ext cx="218469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8" u="sng" dirty="0">
                <a:solidFill>
                  <a:srgbClr val="C9F0ED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ANAY</a:t>
            </a:r>
            <a:endParaRPr lang="en-US" sz="2208" u="sng" dirty="0">
              <a:solidFill>
                <a:srgbClr val="C9F0E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4963" y="4283574"/>
            <a:ext cx="3752028" cy="2285530"/>
          </a:xfrm>
          <a:prstGeom prst="roundRect">
            <a:avLst>
              <a:gd name="adj" fmla="val 683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7" name="Text 5"/>
          <p:cNvSpPr/>
          <p:nvPr/>
        </p:nvSpPr>
        <p:spPr>
          <a:xfrm>
            <a:off x="1183680" y="4516271"/>
            <a:ext cx="218479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8" u="sng" dirty="0">
                <a:solidFill>
                  <a:srgbClr val="C9F0ED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RIJUL</a:t>
            </a:r>
            <a:endParaRPr lang="en-US" sz="2208" u="sng" dirty="0">
              <a:solidFill>
                <a:srgbClr val="C9F0E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81309" y="1683181"/>
            <a:ext cx="4080470" cy="2246808"/>
          </a:xfrm>
          <a:prstGeom prst="roundRect">
            <a:avLst>
              <a:gd name="adj" fmla="val 683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0" name="Text 8"/>
          <p:cNvSpPr/>
          <p:nvPr/>
        </p:nvSpPr>
        <p:spPr>
          <a:xfrm>
            <a:off x="8593332" y="1794343"/>
            <a:ext cx="218479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8" u="sng" dirty="0">
                <a:solidFill>
                  <a:srgbClr val="C9F0ED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KRISHANG</a:t>
            </a:r>
            <a:endParaRPr lang="en-US" sz="2208" u="sng" dirty="0">
              <a:solidFill>
                <a:srgbClr val="C9F0E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64707" y="2138334"/>
            <a:ext cx="2184797" cy="116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82709" y="4283948"/>
            <a:ext cx="4080924" cy="2240006"/>
          </a:xfrm>
          <a:prstGeom prst="roundRect">
            <a:avLst>
              <a:gd name="adj" fmla="val 683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3" name="Text 11"/>
          <p:cNvSpPr/>
          <p:nvPr/>
        </p:nvSpPr>
        <p:spPr>
          <a:xfrm>
            <a:off x="8631047" y="4455247"/>
            <a:ext cx="218479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8" u="sng">
                <a:solidFill>
                  <a:srgbClr val="C9F0ED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AHSAN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EB22C1-419F-61C3-435E-CC52DF273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46" r="-156" b="10714"/>
          <a:stretch>
            <a:fillRect/>
          </a:stretch>
        </p:blipFill>
        <p:spPr>
          <a:xfrm>
            <a:off x="3181193" y="2226715"/>
            <a:ext cx="5766383" cy="3490924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C1D05634-9FC7-3E58-8583-56B539344D70}"/>
              </a:ext>
            </a:extLst>
          </p:cNvPr>
          <p:cNvSpPr/>
          <p:nvPr/>
        </p:nvSpPr>
        <p:spPr>
          <a:xfrm>
            <a:off x="544879" y="2141050"/>
            <a:ext cx="3478834" cy="1784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Full-Stack Web Development: Skilled </a:t>
            </a: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in HTML, CSS, JavaScript, React.js (Vite), </a:t>
            </a: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Next.js, Node.js, Express.js, MongoDB </a:t>
            </a: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(with Mongoose), Auth.js, and Git.</a:t>
            </a:r>
          </a:p>
          <a:p>
            <a:endParaRPr lang="en-US" sz="1333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Machine Learning &amp; NLP: Experienced </a:t>
            </a: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with core ML algorithms and basic </a:t>
            </a: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Natural Language Processing using spaCy.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466586E-545B-B987-23FA-28898F99049E}"/>
              </a:ext>
            </a:extLst>
          </p:cNvPr>
          <p:cNvSpPr/>
          <p:nvPr/>
        </p:nvSpPr>
        <p:spPr>
          <a:xfrm>
            <a:off x="544878" y="5017600"/>
            <a:ext cx="3478834" cy="1784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Web Developer: Experienced in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creating interactive front-end designs with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HTML, CSS, and JS. 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ML Enthusiast: Explores practical machine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learning workflows and applies data-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driven thinking to real-world problems.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0BECAF4-3BFD-4888-FF46-33EAFDD00AB4}"/>
              </a:ext>
            </a:extLst>
          </p:cNvPr>
          <p:cNvSpPr/>
          <p:nvPr/>
        </p:nvSpPr>
        <p:spPr>
          <a:xfrm>
            <a:off x="7793403" y="4941155"/>
            <a:ext cx="3478834" cy="1784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Applied ML &amp; Workflow Design: Experienced in </a:t>
            </a:r>
            <a:endParaRPr lang="en-US" sz="1333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creating lightweight AI models with efficient </a:t>
            </a: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data</a:t>
            </a:r>
            <a:r>
              <a:rPr lang="en-US" sz="1333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handling and decision logic.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333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Backend Orchestration: Proficient in Python and </a:t>
            </a:r>
            <a:endParaRPr lang="en-US" sz="1333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understanding of Flask for modular automation </a:t>
            </a:r>
            <a:endParaRPr lang="en-US" sz="1333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3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and agent-based workflows.</a:t>
            </a:r>
            <a:endParaRPr lang="en-US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8C52B48-E8B9-D219-CBD7-27FF0E0DED96}"/>
              </a:ext>
            </a:extLst>
          </p:cNvPr>
          <p:cNvSpPr/>
          <p:nvPr/>
        </p:nvSpPr>
        <p:spPr>
          <a:xfrm>
            <a:off x="7775260" y="2274400"/>
            <a:ext cx="3745534" cy="1812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17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Web Development: Skilled in building clean, </a:t>
            </a:r>
            <a:endParaRPr lang="en-US" sz="1417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17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functional UIs with React.js and API </a:t>
            </a:r>
            <a:endParaRPr lang="en-US" sz="1417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17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integration.</a:t>
            </a:r>
            <a:endParaRPr lang="en-US" sz="141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417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17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--&gt; Cybersecurity: Understands secure data</a:t>
            </a:r>
            <a:endParaRPr lang="en-US" sz="1417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17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    handling and secure and private </a:t>
            </a:r>
          </a:p>
          <a:p>
            <a:r>
              <a:rPr lang="en-US" sz="1417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browsing principles.</a:t>
            </a:r>
            <a:endParaRPr lang="en-US" sz="141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417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417" y="450652"/>
            <a:ext cx="6840637" cy="41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667" b="1" dirty="0">
                <a:solidFill>
                  <a:srgbClr val="FF0000"/>
                </a:solidFill>
                <a:latin typeface="Poppins Light"/>
                <a:ea typeface="Poppins Light" pitchFamily="34" charset="-122"/>
                <a:cs typeface="Poppins Light"/>
              </a:rPr>
              <a:t>The Problem: Too Much, Too Easily Lost</a:t>
            </a:r>
            <a:endParaRPr lang="en-US" sz="2667" b="1" dirty="0">
              <a:solidFill>
                <a:srgbClr val="FF0000"/>
              </a:solidFill>
              <a:latin typeface="Poppins Light"/>
              <a:cs typeface="Poppins Ligh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EBE4DF-9882-4253-6FA1-E4B68E9FB407}"/>
              </a:ext>
            </a:extLst>
          </p:cNvPr>
          <p:cNvGrpSpPr/>
          <p:nvPr/>
        </p:nvGrpSpPr>
        <p:grpSpPr>
          <a:xfrm>
            <a:off x="442417" y="1348284"/>
            <a:ext cx="6668493" cy="5181898"/>
            <a:chOff x="793790" y="1480780"/>
            <a:chExt cx="7556421" cy="5212438"/>
          </a:xfrm>
        </p:grpSpPr>
        <p:sp>
          <p:nvSpPr>
            <p:cNvPr id="4" name="Shape 1"/>
            <p:cNvSpPr/>
            <p:nvPr/>
          </p:nvSpPr>
          <p:spPr>
            <a:xfrm>
              <a:off x="793790" y="1480780"/>
              <a:ext cx="7556421" cy="1184077"/>
            </a:xfrm>
            <a:prstGeom prst="roundRect">
              <a:avLst>
                <a:gd name="adj" fmla="val 5632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500"/>
            </a:p>
          </p:txBody>
        </p:sp>
        <p:sp>
          <p:nvSpPr>
            <p:cNvPr id="5" name="Text 2"/>
            <p:cNvSpPr/>
            <p:nvPr/>
          </p:nvSpPr>
          <p:spPr>
            <a:xfrm>
              <a:off x="960120" y="1647111"/>
              <a:ext cx="209514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25"/>
                </a:lnSpc>
              </a:pPr>
              <a:r>
                <a:rPr lang="en-US" sz="1667" dirty="0">
                  <a:solidFill>
                    <a:srgbClr val="E5E0D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Information Overload</a:t>
              </a:r>
              <a:endParaRPr lang="en-US" sz="1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960120" y="2009530"/>
              <a:ext cx="7223760" cy="5081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67"/>
                </a:lnSpc>
              </a:pP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Users struggle to manage 20+ tabs simultaneously, losing track of important research and context across sessions.</a:t>
              </a:r>
              <a:endParaRPr lang="en-US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7" name="Shape 4"/>
            <p:cNvSpPr/>
            <p:nvPr/>
          </p:nvSpPr>
          <p:spPr>
            <a:xfrm>
              <a:off x="793790" y="2823567"/>
              <a:ext cx="7556421" cy="1184077"/>
            </a:xfrm>
            <a:prstGeom prst="roundRect">
              <a:avLst>
                <a:gd name="adj" fmla="val 5632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500"/>
            </a:p>
          </p:txBody>
        </p:sp>
        <p:sp>
          <p:nvSpPr>
            <p:cNvPr id="8" name="Text 5"/>
            <p:cNvSpPr/>
            <p:nvPr/>
          </p:nvSpPr>
          <p:spPr>
            <a:xfrm>
              <a:off x="960120" y="2989898"/>
              <a:ext cx="198465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25"/>
                </a:lnSpc>
              </a:pPr>
              <a:r>
                <a:rPr lang="en-US" sz="1667">
                  <a:solidFill>
                    <a:srgbClr val="E5E0D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Context Loss</a:t>
              </a:r>
              <a:endParaRPr lang="en-US" sz="1667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960120" y="3352317"/>
              <a:ext cx="7223760" cy="5081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67"/>
                </a:lnSpc>
              </a:pPr>
              <a:r>
                <a:rPr lang="en-US" sz="1333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Closing a browser means losing hours of accumulated context. Manual re-searching wastes valuable time and mental energy.</a:t>
              </a:r>
              <a:endParaRPr lang="en-US" sz="1333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793790" y="4166354"/>
              <a:ext cx="7556421" cy="1184077"/>
            </a:xfrm>
            <a:prstGeom prst="roundRect">
              <a:avLst>
                <a:gd name="adj" fmla="val 5632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500"/>
            </a:p>
          </p:txBody>
        </p:sp>
        <p:sp>
          <p:nvSpPr>
            <p:cNvPr id="11" name="Text 8"/>
            <p:cNvSpPr/>
            <p:nvPr/>
          </p:nvSpPr>
          <p:spPr>
            <a:xfrm>
              <a:off x="960120" y="4332684"/>
              <a:ext cx="198465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25"/>
                </a:lnSpc>
              </a:pPr>
              <a:r>
                <a:rPr lang="en-US" sz="1667">
                  <a:solidFill>
                    <a:srgbClr val="E5E0D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Privacy Fears</a:t>
              </a:r>
              <a:endParaRPr lang="en-US" sz="1667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960120" y="4695104"/>
              <a:ext cx="7223760" cy="5081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67"/>
                </a:lnSpc>
              </a:pPr>
              <a:r>
                <a:rPr lang="en-US" sz="1333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Cloud-based assistants expose sensitive browsing data. Users sacrifice privacy for convenience, creating trust gaps.</a:t>
              </a:r>
              <a:endParaRPr lang="en-US" sz="1333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3" name="Shape 10"/>
            <p:cNvSpPr/>
            <p:nvPr/>
          </p:nvSpPr>
          <p:spPr>
            <a:xfrm>
              <a:off x="793790" y="5509141"/>
              <a:ext cx="7556421" cy="1184077"/>
            </a:xfrm>
            <a:prstGeom prst="roundRect">
              <a:avLst>
                <a:gd name="adj" fmla="val 5632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500"/>
            </a:p>
          </p:txBody>
        </p:sp>
        <p:sp>
          <p:nvSpPr>
            <p:cNvPr id="14" name="Text 11"/>
            <p:cNvSpPr/>
            <p:nvPr/>
          </p:nvSpPr>
          <p:spPr>
            <a:xfrm>
              <a:off x="960120" y="5675471"/>
              <a:ext cx="1984653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25"/>
                </a:lnSpc>
              </a:pPr>
              <a:r>
                <a:rPr lang="en-US" sz="1667">
                  <a:solidFill>
                    <a:srgbClr val="E5E0D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Efficiency Drain</a:t>
              </a:r>
              <a:endParaRPr lang="en-US" sz="1667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960120" y="6037890"/>
              <a:ext cx="7223760" cy="5081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67"/>
                </a:lnSpc>
              </a:pPr>
              <a:r>
                <a:rPr lang="en-US" sz="1333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Repeated searches, fragmented workflows, and manual organization reduce productivity and increase cognitive load.</a:t>
              </a:r>
              <a:endParaRPr lang="en-US" sz="1333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035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40539-847F-9019-8CCF-6C7B017DA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C09DC0E-3C93-1195-75D1-6B829B884026}"/>
              </a:ext>
            </a:extLst>
          </p:cNvPr>
          <p:cNvSpPr/>
          <p:nvPr/>
        </p:nvSpPr>
        <p:spPr>
          <a:xfrm>
            <a:off x="728650" y="499166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667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Architecture Diagram</a:t>
            </a:r>
            <a:endParaRPr lang="en-US" sz="3667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CCB5A9-32C6-10CF-8C50-CD542B7A6380}"/>
              </a:ext>
            </a:extLst>
          </p:cNvPr>
          <p:cNvSpPr/>
          <p:nvPr/>
        </p:nvSpPr>
        <p:spPr>
          <a:xfrm>
            <a:off x="10611427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21" name="Picture 20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D49E7610-84BF-3970-4908-F759EF122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4" y="1424265"/>
            <a:ext cx="11769751" cy="496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1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2A88-974D-D6DF-6EC1-71066812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2046C2E-B8C1-70CE-858D-FCD2F293514E}"/>
              </a:ext>
            </a:extLst>
          </p:cNvPr>
          <p:cNvSpPr/>
          <p:nvPr/>
        </p:nvSpPr>
        <p:spPr>
          <a:xfrm>
            <a:off x="728650" y="297998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667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Detailed Flowchart</a:t>
            </a:r>
            <a:endParaRPr lang="en-US" sz="3667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32ADCE-B64D-98D2-9E8B-42B73D48EEEB}"/>
              </a:ext>
            </a:extLst>
          </p:cNvPr>
          <p:cNvSpPr/>
          <p:nvPr/>
        </p:nvSpPr>
        <p:spPr>
          <a:xfrm>
            <a:off x="10611427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EDC1E3-2DEF-3F3B-606E-18C39449F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57" y="948158"/>
            <a:ext cx="10586885" cy="588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0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158D-1193-18C5-4E89-17D5BB7A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033BC27-329C-F1F8-68DF-5BEE44D76BFF}"/>
              </a:ext>
            </a:extLst>
          </p:cNvPr>
          <p:cNvSpPr/>
          <p:nvPr/>
        </p:nvSpPr>
        <p:spPr>
          <a:xfrm>
            <a:off x="728650" y="297998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667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System Design (end-to-end)</a:t>
            </a:r>
            <a:endParaRPr lang="en-US" sz="3667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EFE5DE-F31A-0AF7-856E-B509B62A7252}"/>
              </a:ext>
            </a:extLst>
          </p:cNvPr>
          <p:cNvSpPr/>
          <p:nvPr/>
        </p:nvSpPr>
        <p:spPr>
          <a:xfrm>
            <a:off x="10611427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01FF9-B3FC-AB35-A616-77AE1643C51A}"/>
              </a:ext>
            </a:extLst>
          </p:cNvPr>
          <p:cNvSpPr txBox="1"/>
          <p:nvPr/>
        </p:nvSpPr>
        <p:spPr>
          <a:xfrm>
            <a:off x="728650" y="1223016"/>
            <a:ext cx="10734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>
                    <a:lumMod val="8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Cortex is an on-device web agent that captures browser context, creates semantic embeddings with a WASM engine, stores vectors and session graphs in IndexedDB, and exposes services for recall, proactivity, analytics, and actions through a React UI. All processing stays local and permissioned by the user.</a:t>
            </a:r>
            <a:endParaRPr lang="en-IN" sz="1600" dirty="0">
              <a:solidFill>
                <a:schemeClr val="bg1">
                  <a:lumMod val="8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7B07F1-3D9D-5EB4-C3D2-8F150BD03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50" y="2339171"/>
            <a:ext cx="4300550" cy="4113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Capture: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tabs, history, bookmarks, focus events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Storage: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IndexedDB for sessions, embeddings, activity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Compute: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WASM embeddings, local ANN (Approximate Nearest Neighbors) index, semantic graph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Services: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Recall, Proactivity, Activity Insights, Session Diff, Shortcut Generator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UI &amp; Controls: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React dashboard, Explain-Why overlays, Privacy Dashboard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E5566DFA-12B3-2348-819B-670498524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2" t="11260" r="2363" b="7018"/>
          <a:stretch>
            <a:fillRect/>
          </a:stretch>
        </p:blipFill>
        <p:spPr bwMode="auto">
          <a:xfrm>
            <a:off x="7373114" y="1973465"/>
            <a:ext cx="4797550" cy="484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88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B5E5F-E309-85A4-3ACC-47480517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4F2834B-5D0E-AAF8-6909-CFE649888CF3}"/>
              </a:ext>
            </a:extLst>
          </p:cNvPr>
          <p:cNvSpPr/>
          <p:nvPr/>
        </p:nvSpPr>
        <p:spPr>
          <a:xfrm>
            <a:off x="727126" y="462590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500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Use Cases and User Scenarios</a:t>
            </a:r>
            <a:endParaRPr lang="en-US" sz="3500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5DC687-D4F6-5FA3-64F3-2276667AF756}"/>
              </a:ext>
            </a:extLst>
          </p:cNvPr>
          <p:cNvSpPr/>
          <p:nvPr/>
        </p:nvSpPr>
        <p:spPr>
          <a:xfrm>
            <a:off x="10611427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76392-4DA2-118D-FDC6-67E4E61E0E01}"/>
              </a:ext>
            </a:extLst>
          </p:cNvPr>
          <p:cNvSpPr txBox="1"/>
          <p:nvPr/>
        </p:nvSpPr>
        <p:spPr>
          <a:xfrm>
            <a:off x="727126" y="1419320"/>
            <a:ext cx="107347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i="0" dirty="0">
                <a:solidFill>
                  <a:schemeClr val="bg1">
                    <a:lumMod val="8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Cortex helps students, professionals, travelers, and researchers by surfacing lost resources, organizing task-focused workspaces, retrieving last-viewed deals, and comparing research sessions, all via local, context-aware recall and actions.</a:t>
            </a:r>
            <a:endParaRPr lang="en-IN" sz="1700" dirty="0">
              <a:solidFill>
                <a:schemeClr val="bg1">
                  <a:lumMod val="8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085734-E0E7-F9C8-5557-55AB63C0F6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" t="24704" r="2394" b="10102"/>
          <a:stretch>
            <a:fillRect/>
          </a:stretch>
        </p:blipFill>
        <p:spPr bwMode="auto">
          <a:xfrm>
            <a:off x="4228569" y="3538728"/>
            <a:ext cx="7963431" cy="312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D438C2-60ED-4E91-3D1A-8847D319E3E5}"/>
              </a:ext>
            </a:extLst>
          </p:cNvPr>
          <p:cNvSpPr/>
          <p:nvPr/>
        </p:nvSpPr>
        <p:spPr>
          <a:xfrm>
            <a:off x="683439" y="3560933"/>
            <a:ext cx="3159074" cy="99412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8EB4576-D244-5731-AB49-3D819D12B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26" y="3676329"/>
            <a:ext cx="3159074" cy="70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4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Professional</a:t>
            </a:r>
            <a:r>
              <a:rPr lang="en-US" altLang="en-US" sz="14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s: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cluster tabs, autofill repetitive forms, summarize reports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F3E85B0-407F-5375-BAA9-B19CE4667DAA}"/>
              </a:ext>
            </a:extLst>
          </p:cNvPr>
          <p:cNvSpPr/>
          <p:nvPr/>
        </p:nvSpPr>
        <p:spPr>
          <a:xfrm>
            <a:off x="683440" y="5614416"/>
            <a:ext cx="3169641" cy="106984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3FCCD2-445C-7A32-EACC-04636E5BA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26" y="5729811"/>
            <a:ext cx="3159074" cy="70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Researchers</a:t>
            </a:r>
            <a:r>
              <a:rPr lang="en-US" altLang="en-US" sz="14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compare sessions and merge new findings, spot gaps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97D6CC-6462-19D4-8173-3C8DB3793831}"/>
              </a:ext>
            </a:extLst>
          </p:cNvPr>
          <p:cNvSpPr/>
          <p:nvPr/>
        </p:nvSpPr>
        <p:spPr>
          <a:xfrm>
            <a:off x="694007" y="2640694"/>
            <a:ext cx="3148506" cy="83565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2F6CBD-64F0-C5B4-054D-8879317EEFD4}"/>
              </a:ext>
            </a:extLst>
          </p:cNvPr>
          <p:cNvSpPr/>
          <p:nvPr/>
        </p:nvSpPr>
        <p:spPr>
          <a:xfrm>
            <a:off x="683439" y="4674463"/>
            <a:ext cx="3169642" cy="83565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A073DBD-4A3C-CEC7-B2DF-CD8C74C4A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07" y="2677755"/>
            <a:ext cx="3159074" cy="70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Students: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recall fragmented research and references quickly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1C8FFB6-724B-A6A8-6F63-867308446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26" y="4703070"/>
            <a:ext cx="3159074" cy="70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4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Travelers: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retrieve itineraries and last-seen offers with context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CA247-E97F-499E-AA0D-D0A4DCEB7DE7}"/>
              </a:ext>
            </a:extLst>
          </p:cNvPr>
          <p:cNvSpPr txBox="1"/>
          <p:nvPr/>
        </p:nvSpPr>
        <p:spPr>
          <a:xfrm>
            <a:off x="7406640" y="2717550"/>
            <a:ext cx="2752344" cy="4001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Persona Comparison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0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B34A3-2B95-AB79-31BE-C7A4858D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6AD1AA4-9833-7B47-427C-2574794B5A7E}"/>
              </a:ext>
            </a:extLst>
          </p:cNvPr>
          <p:cNvSpPr/>
          <p:nvPr/>
        </p:nvSpPr>
        <p:spPr>
          <a:xfrm>
            <a:off x="727126" y="289999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500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External Dependencies</a:t>
            </a:r>
            <a:endParaRPr lang="en-US" sz="3500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500676-1FDC-8F17-C4F5-445EC8CC1964}"/>
              </a:ext>
            </a:extLst>
          </p:cNvPr>
          <p:cNvSpPr/>
          <p:nvPr/>
        </p:nvSpPr>
        <p:spPr>
          <a:xfrm>
            <a:off x="10611427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C301C-3247-A21F-6936-C31302ACB082}"/>
              </a:ext>
            </a:extLst>
          </p:cNvPr>
          <p:cNvSpPr txBox="1"/>
          <p:nvPr/>
        </p:nvSpPr>
        <p:spPr>
          <a:xfrm>
            <a:off x="727126" y="1010522"/>
            <a:ext cx="10734700" cy="844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0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Cortex uses browser WebExtension APIs, open-source WASM toolchains for embeddings, local vector index libraries, and standard frontend frameworks; all third-party components are open-source and run client-side to preserve privacy.</a:t>
            </a:r>
            <a:endParaRPr lang="en-IN" sz="1630" dirty="0">
              <a:solidFill>
                <a:schemeClr val="bg1">
                  <a:lumMod val="8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328D11F1-8A89-1A14-FD4C-366999B77F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" t="4833" r="2427" b="6665"/>
          <a:stretch>
            <a:fillRect/>
          </a:stretch>
        </p:blipFill>
        <p:spPr bwMode="auto">
          <a:xfrm>
            <a:off x="6749897" y="1904845"/>
            <a:ext cx="5431536" cy="485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2EA35D-4CD4-9228-A73E-9F8AEE37E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99725"/>
              </p:ext>
            </p:extLst>
          </p:nvPr>
        </p:nvGraphicFramePr>
        <p:xfrm>
          <a:off x="573024" y="2091424"/>
          <a:ext cx="6028944" cy="3970975"/>
        </p:xfrm>
        <a:graphic>
          <a:graphicData uri="http://schemas.openxmlformats.org/drawingml/2006/table">
            <a:tbl>
              <a:tblPr/>
              <a:tblGrid>
                <a:gridCol w="3014472">
                  <a:extLst>
                    <a:ext uri="{9D8B030D-6E8A-4147-A177-3AD203B41FA5}">
                      <a16:colId xmlns:a16="http://schemas.microsoft.com/office/drawing/2014/main" val="3192148106"/>
                    </a:ext>
                  </a:extLst>
                </a:gridCol>
                <a:gridCol w="3014472">
                  <a:extLst>
                    <a:ext uri="{9D8B030D-6E8A-4147-A177-3AD203B41FA5}">
                      <a16:colId xmlns:a16="http://schemas.microsoft.com/office/drawing/2014/main" val="499814802"/>
                    </a:ext>
                  </a:extLst>
                </a:gridCol>
              </a:tblGrid>
              <a:tr h="3741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Category/Technology</a:t>
                      </a:r>
                      <a:endParaRPr lang="en-IN" sz="16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Details</a:t>
                      </a:r>
                      <a:endParaRPr lang="en-IN" sz="16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767981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Browser APIs</a:t>
                      </a:r>
                      <a:endParaRPr lang="en-IN" sz="16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tabs, history, bookmarks (Chrome/Edge/Firefox)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540603"/>
                  </a:ext>
                </a:extLst>
              </a:tr>
              <a:tr h="3741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WASM toolchain</a:t>
                      </a:r>
                      <a:endParaRPr lang="en-IN" sz="16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GPT-2 as the locally run model for WASM + browser automation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018753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Vector/search libraries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simple ANN or brute-force JS index (HNSW alternatives)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417017"/>
                  </a:ext>
                </a:extLst>
              </a:tr>
              <a:tr h="8729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Frontend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React, local state management, </a:t>
                      </a:r>
                      <a:r>
                        <a:rPr lang="en-US" sz="1600" dirty="0" err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IndexedDB</a:t>
                      </a:r>
                      <a:r>
                        <a:rPr lang="en-US" sz="16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helpers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274732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 tools</a:t>
                      </a:r>
                      <a:endParaRPr lang="en-IN" sz="16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Node.js, Vite, Chrome extension tooling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86058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F64A61-7770-632C-6314-9AC974981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79935"/>
              </p:ext>
            </p:extLst>
          </p:nvPr>
        </p:nvGraphicFramePr>
        <p:xfrm>
          <a:off x="573024" y="6062399"/>
          <a:ext cx="6028944" cy="623507"/>
        </p:xfrm>
        <a:graphic>
          <a:graphicData uri="http://schemas.openxmlformats.org/drawingml/2006/table">
            <a:tbl>
              <a:tblPr/>
              <a:tblGrid>
                <a:gridCol w="3014472">
                  <a:extLst>
                    <a:ext uri="{9D8B030D-6E8A-4147-A177-3AD203B41FA5}">
                      <a16:colId xmlns:a16="http://schemas.microsoft.com/office/drawing/2014/main" val="3192148106"/>
                    </a:ext>
                  </a:extLst>
                </a:gridCol>
                <a:gridCol w="3014472">
                  <a:extLst>
                    <a:ext uri="{9D8B030D-6E8A-4147-A177-3AD203B41FA5}">
                      <a16:colId xmlns:a16="http://schemas.microsoft.com/office/drawing/2014/main" val="499814802"/>
                    </a:ext>
                  </a:extLst>
                </a:gridCol>
              </a:tblGrid>
              <a:tr h="623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Authentication</a:t>
                      </a:r>
                      <a:endParaRPr lang="en-IN" sz="16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Firebase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860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52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BD30-757A-5887-B3B2-F8A9470B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B21007D-8BB1-74BB-A6E6-337BC3E2DE78}"/>
              </a:ext>
            </a:extLst>
          </p:cNvPr>
          <p:cNvSpPr/>
          <p:nvPr/>
        </p:nvSpPr>
        <p:spPr>
          <a:xfrm>
            <a:off x="727126" y="470743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500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Potential Impact and Metrics</a:t>
            </a:r>
            <a:endParaRPr lang="en-US" sz="3500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3E4B8E-32F9-B326-546F-0C1DCAC84F00}"/>
              </a:ext>
            </a:extLst>
          </p:cNvPr>
          <p:cNvSpPr/>
          <p:nvPr/>
        </p:nvSpPr>
        <p:spPr>
          <a:xfrm>
            <a:off x="10611427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BDC36-5BC5-84A1-CB11-B51F9D974352}"/>
              </a:ext>
            </a:extLst>
          </p:cNvPr>
          <p:cNvSpPr txBox="1"/>
          <p:nvPr/>
        </p:nvSpPr>
        <p:spPr>
          <a:xfrm>
            <a:off x="76199" y="1220273"/>
            <a:ext cx="12048741" cy="594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30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Cortex boosts productivity by reducing search time, improves user retention through personalized assistance, and enables monetization via premium workflows, while strengthening Samsung’s privacy-first market positioning.</a:t>
            </a:r>
            <a:endParaRPr lang="en-IN" sz="1630" dirty="0">
              <a:solidFill>
                <a:schemeClr val="bg1">
                  <a:lumMod val="8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590D7-BD76-FD74-A973-8D7020BEB7EE}"/>
              </a:ext>
            </a:extLst>
          </p:cNvPr>
          <p:cNvSpPr txBox="1"/>
          <p:nvPr/>
        </p:nvSpPr>
        <p:spPr>
          <a:xfrm>
            <a:off x="60692" y="2867377"/>
            <a:ext cx="3277946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16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Reduce time-to-find </a:t>
            </a:r>
            <a:r>
              <a:rPr lang="en-US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information by up to </a:t>
            </a: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70%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Increase task completion rate </a:t>
            </a:r>
            <a:r>
              <a:rPr lang="en-US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</a:t>
            </a: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session efficiency </a:t>
            </a:r>
            <a:r>
              <a:rPr lang="en-US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 up to </a:t>
            </a: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80%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Premium conversion rates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Privacy-first branding</a:t>
            </a:r>
            <a:r>
              <a:rPr lang="en-US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cross-device value for </a:t>
            </a: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Samsung DeX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E9A8662-40E0-3DCD-743B-B5ABA21A9E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" t="18285" r="11334" b="18850"/>
          <a:stretch>
            <a:fillRect/>
          </a:stretch>
        </p:blipFill>
        <p:spPr bwMode="auto">
          <a:xfrm>
            <a:off x="8119872" y="3165189"/>
            <a:ext cx="4005072" cy="217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1371DE-4283-F7AF-88A5-4CF32E557BC2}"/>
              </a:ext>
            </a:extLst>
          </p:cNvPr>
          <p:cNvCxnSpPr>
            <a:cxnSpLocks/>
          </p:cNvCxnSpPr>
          <p:nvPr/>
        </p:nvCxnSpPr>
        <p:spPr>
          <a:xfrm>
            <a:off x="3319272" y="2432304"/>
            <a:ext cx="0" cy="4169444"/>
          </a:xfrm>
          <a:prstGeom prst="line">
            <a:avLst/>
          </a:prstGeom>
          <a:ln>
            <a:solidFill>
              <a:schemeClr val="bg2">
                <a:alpha val="7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49D6D0-6393-825C-AD8D-0125B79C97A8}"/>
              </a:ext>
            </a:extLst>
          </p:cNvPr>
          <p:cNvCxnSpPr>
            <a:cxnSpLocks/>
          </p:cNvCxnSpPr>
          <p:nvPr/>
        </p:nvCxnSpPr>
        <p:spPr>
          <a:xfrm>
            <a:off x="8098536" y="2432304"/>
            <a:ext cx="0" cy="4169444"/>
          </a:xfrm>
          <a:prstGeom prst="line">
            <a:avLst/>
          </a:prstGeom>
          <a:ln>
            <a:solidFill>
              <a:schemeClr val="bg2">
                <a:alpha val="7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06246EC7-1B28-0EE8-7E26-F0BA5B60A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" t="20121" r="45541" b="6785"/>
          <a:stretch>
            <a:fillRect/>
          </a:stretch>
        </p:blipFill>
        <p:spPr bwMode="auto">
          <a:xfrm>
            <a:off x="3319272" y="3156943"/>
            <a:ext cx="2726436" cy="300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CB93491F-F42E-F204-5233-2E74EB77B3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16" t="20241" r="4143" b="13280"/>
          <a:stretch>
            <a:fillRect/>
          </a:stretch>
        </p:blipFill>
        <p:spPr bwMode="auto">
          <a:xfrm>
            <a:off x="6045708" y="3086706"/>
            <a:ext cx="2078736" cy="273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54DB7C04-D3DC-EADE-5B67-C9C037F09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" t="4942" r="4143" b="86234"/>
          <a:stretch>
            <a:fillRect/>
          </a:stretch>
        </p:blipFill>
        <p:spPr bwMode="auto">
          <a:xfrm>
            <a:off x="2800097" y="2434783"/>
            <a:ext cx="5864680" cy="43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25551DA3-806A-C23E-0C1B-65F00CF40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" t="8599" r="11334" b="83291"/>
          <a:stretch>
            <a:fillRect/>
          </a:stretch>
        </p:blipFill>
        <p:spPr bwMode="auto">
          <a:xfrm>
            <a:off x="7931802" y="2504508"/>
            <a:ext cx="4308060" cy="3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280BA1C-497B-4E95-35F9-D4591AA66163}"/>
              </a:ext>
            </a:extLst>
          </p:cNvPr>
          <p:cNvSpPr txBox="1"/>
          <p:nvPr/>
        </p:nvSpPr>
        <p:spPr>
          <a:xfrm>
            <a:off x="41326" y="2381218"/>
            <a:ext cx="3277946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metrics:</a:t>
            </a:r>
            <a:endParaRPr lang="en-US" sz="16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95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6255-E2A6-B7DA-441C-CC2ADD94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ADAC5ED-8DE9-3E84-8FF1-DC465A983F7F}"/>
              </a:ext>
            </a:extLst>
          </p:cNvPr>
          <p:cNvSpPr/>
          <p:nvPr/>
        </p:nvSpPr>
        <p:spPr>
          <a:xfrm>
            <a:off x="727126" y="452455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500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Challenges and Limitations</a:t>
            </a:r>
            <a:endParaRPr lang="en-US" sz="3500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1F4E49-D228-A12D-9ABD-22F0D0755AA6}"/>
              </a:ext>
            </a:extLst>
          </p:cNvPr>
          <p:cNvSpPr/>
          <p:nvPr/>
        </p:nvSpPr>
        <p:spPr>
          <a:xfrm>
            <a:off x="10611427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97470-8BD7-6B2B-E6AA-6F53F5BF29B5}"/>
              </a:ext>
            </a:extLst>
          </p:cNvPr>
          <p:cNvSpPr txBox="1"/>
          <p:nvPr/>
        </p:nvSpPr>
        <p:spPr>
          <a:xfrm>
            <a:off x="727126" y="1252755"/>
            <a:ext cx="10734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constraints include on-device compute limits, storage bloat for long histories, permissions friction, and handling dynamic or JS-heavy sites; mitigations include sampling, snippet limits, cached embeddings, and careful UX for consent.</a:t>
            </a:r>
            <a:endParaRPr lang="en-IN" sz="163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3554BB-25C4-F65E-E3C6-481148FCC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1" b="5174"/>
          <a:stretch>
            <a:fillRect/>
          </a:stretch>
        </p:blipFill>
        <p:spPr bwMode="auto">
          <a:xfrm>
            <a:off x="7223535" y="2103120"/>
            <a:ext cx="4238291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ECFD16-6C7B-762A-8560-C76B7D8CD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10381"/>
              </p:ext>
            </p:extLst>
          </p:nvPr>
        </p:nvGraphicFramePr>
        <p:xfrm>
          <a:off x="379291" y="2719061"/>
          <a:ext cx="6304974" cy="3413760"/>
        </p:xfrm>
        <a:graphic>
          <a:graphicData uri="http://schemas.openxmlformats.org/drawingml/2006/table">
            <a:tbl>
              <a:tblPr/>
              <a:tblGrid>
                <a:gridCol w="3152487">
                  <a:extLst>
                    <a:ext uri="{9D8B030D-6E8A-4147-A177-3AD203B41FA5}">
                      <a16:colId xmlns:a16="http://schemas.microsoft.com/office/drawing/2014/main" val="179719911"/>
                    </a:ext>
                  </a:extLst>
                </a:gridCol>
                <a:gridCol w="3152487">
                  <a:extLst>
                    <a:ext uri="{9D8B030D-6E8A-4147-A177-3AD203B41FA5}">
                      <a16:colId xmlns:a16="http://schemas.microsoft.com/office/drawing/2014/main" val="749185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Category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Detail/Mitigation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93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Compute Limits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Model precision trade-offs on-device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96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IndexedDB Growth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Need snippet size limits and pruning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9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Permissions &amp; UX</a:t>
                      </a:r>
                      <a:endParaRPr lang="en-IN" sz="16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Cross-site interactions, UX consent required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26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Dynamic DOM Complexity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Fallback to metadata-only capture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889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Cold-Start Experience</a:t>
                      </a:r>
                      <a:endParaRPr lang="en-IN" sz="16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Mitigated with demo dataset and precomputed caches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7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25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7064-070C-EE2E-C14C-03261D9D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2F786A4-25A9-99A4-2B37-5C72706F62F2}"/>
              </a:ext>
            </a:extLst>
          </p:cNvPr>
          <p:cNvSpPr/>
          <p:nvPr/>
        </p:nvSpPr>
        <p:spPr>
          <a:xfrm>
            <a:off x="727125" y="308667"/>
            <a:ext cx="10734700" cy="6710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75"/>
              </a:lnSpc>
            </a:pPr>
            <a:r>
              <a:rPr lang="en-US" sz="3500" dirty="0">
                <a:solidFill>
                  <a:srgbClr val="C9F0ED"/>
                </a:solidFill>
                <a:latin typeface="Poppins Light"/>
                <a:ea typeface="Calibri"/>
                <a:cs typeface="Poppins Light"/>
              </a:rPr>
              <a:t>Learnings and Insights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0E0385-C796-3A79-36A6-BAB8A31B666A}"/>
              </a:ext>
            </a:extLst>
          </p:cNvPr>
          <p:cNvSpPr/>
          <p:nvPr/>
        </p:nvSpPr>
        <p:spPr>
          <a:xfrm>
            <a:off x="643812" y="979714"/>
            <a:ext cx="10818013" cy="962321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D41A2C-A850-B781-4B27-ADB96714B7E3}"/>
              </a:ext>
            </a:extLst>
          </p:cNvPr>
          <p:cNvSpPr/>
          <p:nvPr/>
        </p:nvSpPr>
        <p:spPr>
          <a:xfrm>
            <a:off x="10602096" y="6357239"/>
            <a:ext cx="1570006" cy="489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26BB7-C909-9654-256F-049F8C26210B}"/>
              </a:ext>
            </a:extLst>
          </p:cNvPr>
          <p:cNvSpPr txBox="1"/>
          <p:nvPr/>
        </p:nvSpPr>
        <p:spPr>
          <a:xfrm>
            <a:off x="708463" y="1045721"/>
            <a:ext cx="10734700" cy="84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25" dirty="0">
                <a:solidFill>
                  <a:schemeClr val="accent1">
                    <a:lumMod val="40000"/>
                    <a:lumOff val="6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Building Cortex highlights that meaningful personalization is driven by context quality, not raw volume, and that explainability and clear privacy controls are essential for adoption; practical engineering requires embedding caching, background workers, and strict storage policies.</a:t>
            </a:r>
            <a:endParaRPr lang="en-IN" sz="1625" dirty="0">
              <a:solidFill>
                <a:schemeClr val="accent1">
                  <a:lumMod val="40000"/>
                  <a:lumOff val="6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30EA45-1DF2-35BB-F4B3-1B22B3120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879031"/>
              </p:ext>
            </p:extLst>
          </p:nvPr>
        </p:nvGraphicFramePr>
        <p:xfrm>
          <a:off x="727126" y="2080176"/>
          <a:ext cx="10734699" cy="4728984"/>
        </p:xfrm>
        <a:graphic>
          <a:graphicData uri="http://schemas.openxmlformats.org/drawingml/2006/table">
            <a:tbl>
              <a:tblPr/>
              <a:tblGrid>
                <a:gridCol w="3578233">
                  <a:extLst>
                    <a:ext uri="{9D8B030D-6E8A-4147-A177-3AD203B41FA5}">
                      <a16:colId xmlns:a16="http://schemas.microsoft.com/office/drawing/2014/main" val="641247477"/>
                    </a:ext>
                  </a:extLst>
                </a:gridCol>
                <a:gridCol w="3578233">
                  <a:extLst>
                    <a:ext uri="{9D8B030D-6E8A-4147-A177-3AD203B41FA5}">
                      <a16:colId xmlns:a16="http://schemas.microsoft.com/office/drawing/2014/main" val="3903324569"/>
                    </a:ext>
                  </a:extLst>
                </a:gridCol>
                <a:gridCol w="3578233">
                  <a:extLst>
                    <a:ext uri="{9D8B030D-6E8A-4147-A177-3AD203B41FA5}">
                      <a16:colId xmlns:a16="http://schemas.microsoft.com/office/drawing/2014/main" val="3803299359"/>
                    </a:ext>
                  </a:extLst>
                </a:gridCol>
              </a:tblGrid>
              <a:tr h="3368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Category</a:t>
                      </a:r>
                      <a:endParaRPr lang="en-IN" sz="14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Finding &amp; Insight</a:t>
                      </a:r>
                      <a:endParaRPr lang="en-IN" sz="14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Future Impact</a:t>
                      </a:r>
                      <a:endParaRPr lang="en-IN" sz="14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441128"/>
                  </a:ext>
                </a:extLst>
              </a:tr>
              <a:tr h="7840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Data Efficiency</a:t>
                      </a:r>
                      <a:endParaRPr lang="en-IN" sz="14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Insight:</a:t>
                      </a:r>
                      <a:r>
                        <a:rPr lang="en-US" sz="14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Context Quality &gt; Quantity. Over-indexing on all data led to noise and slowed down the agent.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 will prioritize </a:t>
                      </a:r>
                      <a:r>
                        <a:rPr lang="en-US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selective capture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and use an </a:t>
                      </a:r>
                      <a:r>
                        <a:rPr lang="en-US" sz="1400" b="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L1/L2 memory system 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 ensure the agent is always fast and relevant.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67619"/>
                  </a:ext>
                </a:extLst>
              </a:tr>
              <a:tr h="7840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User Trust</a:t>
                      </a:r>
                      <a:endParaRPr lang="en-IN" sz="14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Finding:</a:t>
                      </a:r>
                      <a:r>
                        <a:rPr lang="en-US" sz="14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Explainability is critical. Users need immediate confidence in the agent's financial suggestions.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 implemented the </a:t>
                      </a:r>
                      <a:r>
                        <a:rPr lang="en-US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"Show the Why"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UI early to build trust, demonstrating transparent decision-making logic.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895356"/>
                  </a:ext>
                </a:extLst>
              </a:tr>
              <a:tr h="9604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Performance</a:t>
                      </a:r>
                      <a:endParaRPr lang="en-IN" sz="14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Finding:</a:t>
                      </a:r>
                      <a:r>
                        <a:rPr lang="en-US" sz="14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Cold-start latency was high. Waiting for initial embedding generation breaks the user experience (UX).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Solution is viable: We preloaded the model with sample websites and categories, so it starts capturing data immediately.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484810"/>
                  </a:ext>
                </a:extLst>
              </a:tr>
              <a:tr h="7840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Scope &amp; Relevance</a:t>
                      </a:r>
                      <a:endParaRPr lang="en-IN" sz="140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Insight:</a:t>
                      </a:r>
                      <a:r>
                        <a:rPr lang="en-US" sz="14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A wider memory window reduced relevance. We cannot process a 1GB chat history effectively.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Limiting the </a:t>
                      </a:r>
                      <a:r>
                        <a:rPr lang="en-US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demo context window to 7-14 days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ensures we deliver a consistent, high-speed MVP and proves the core mechanism works.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655148"/>
                  </a:ext>
                </a:extLst>
              </a:tr>
              <a:tr h="7840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Business Value</a:t>
                      </a:r>
                      <a:endParaRPr lang="en-IN" sz="1400" dirty="0">
                        <a:solidFill>
                          <a:schemeClr val="bg2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Finding:</a:t>
                      </a:r>
                      <a:r>
                        <a:rPr lang="en-US" sz="140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Privacy UX is a competitive advantage, not an afterthought. Clear data control sells the product.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 designed a </a:t>
                      </a:r>
                      <a:r>
                        <a:rPr lang="en-US" sz="1400" b="1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simple, visible opt-out/delete flow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to establish user control and differentiate our product on the grounds of trust.</a:t>
                      </a:r>
                    </a:p>
                  </a:txBody>
                  <a:tcPr marL="58802" marR="58802" marT="39201" marB="392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452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223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401" y="577751"/>
            <a:ext cx="4081661" cy="51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208" b="1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Business Feasibility</a:t>
            </a:r>
            <a:endParaRPr lang="en-US" sz="3208" b="1" dirty="0">
              <a:solidFill>
                <a:srgbClr val="C9F0ED"/>
              </a:solidFill>
              <a:latin typeface="Poppins Light"/>
              <a:ea typeface="Calibri"/>
              <a:cs typeface="Poppins Light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1401" y="1414463"/>
            <a:ext cx="1104919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417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Cortex represents a convergence of market demand, technological innovation, and strategic business opportunity. Built on privacy-first principles with on-device AI processing, it addresses critical user needs while maintaining sustainable economics.</a:t>
            </a:r>
            <a:endParaRPr lang="en-US" sz="141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7148" y="3800674"/>
            <a:ext cx="5544029" cy="1280029"/>
          </a:xfrm>
          <a:prstGeom prst="roundRect">
            <a:avLst>
              <a:gd name="adj" fmla="val 367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2" name="Text 8"/>
          <p:cNvSpPr/>
          <p:nvPr/>
        </p:nvSpPr>
        <p:spPr>
          <a:xfrm>
            <a:off x="639859" y="3990055"/>
            <a:ext cx="2881311" cy="26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>
                <a:solidFill>
                  <a:srgbClr val="E5E0DF"/>
                </a:solidFill>
                <a:latin typeface="Poppins" panose="00000500000000000000" pitchFamily="2" charset="0"/>
                <a:ea typeface="Poppins Light" pitchFamily="34" charset="-122"/>
                <a:cs typeface="Poppins" panose="00000500000000000000" pitchFamily="2" charset="0"/>
              </a:rPr>
              <a:t>Minimal Infrastructure Costs</a:t>
            </a:r>
            <a:endParaRPr lang="en-US" sz="1583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39859" y="4407639"/>
            <a:ext cx="5198608" cy="55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On-device processing </a:t>
            </a: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eliminates expensive cloud computing, </a:t>
            </a:r>
            <a:r>
              <a:rPr lang="en-US" sz="1292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reducing operational overhead </a:t>
            </a: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while enhancing security and response times.</a:t>
            </a:r>
            <a:endParaRPr lang="en-US" sz="1292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70413" y="5216377"/>
            <a:ext cx="5543930" cy="1320933"/>
          </a:xfrm>
          <a:prstGeom prst="roundRect">
            <a:avLst>
              <a:gd name="adj" fmla="val 322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7" name="Text 12"/>
          <p:cNvSpPr/>
          <p:nvPr/>
        </p:nvSpPr>
        <p:spPr>
          <a:xfrm>
            <a:off x="643124" y="5333045"/>
            <a:ext cx="3325165" cy="23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>
                <a:solidFill>
                  <a:srgbClr val="E5E0DF"/>
                </a:solidFill>
                <a:latin typeface="Poppins" panose="00000500000000000000" pitchFamily="2" charset="0"/>
                <a:ea typeface="Poppins Light" pitchFamily="34" charset="-122"/>
                <a:cs typeface="Poppins" panose="00000500000000000000" pitchFamily="2" charset="0"/>
              </a:rPr>
              <a:t>Samsung Ecosystem Integration</a:t>
            </a:r>
            <a:endParaRPr lang="en-US" sz="1583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3124" y="5704390"/>
            <a:ext cx="5198508" cy="722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 partnership opportunities leverage </a:t>
            </a:r>
            <a:r>
              <a:rPr lang="en-US" sz="1292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Samsung's global reach</a:t>
            </a: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device ecosystem, and premium brand positioning in consumer electronics.</a:t>
            </a:r>
            <a:endParaRPr lang="en-US" sz="1292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7149" y="2489701"/>
            <a:ext cx="5544029" cy="1174044"/>
          </a:xfrm>
          <a:prstGeom prst="roundRect">
            <a:avLst>
              <a:gd name="adj" fmla="val 322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2" name="Text 16"/>
          <p:cNvSpPr/>
          <p:nvPr/>
        </p:nvSpPr>
        <p:spPr>
          <a:xfrm>
            <a:off x="639859" y="2669169"/>
            <a:ext cx="2820473" cy="19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dirty="0">
                <a:solidFill>
                  <a:srgbClr val="E5E0D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Premium Revenue Potential</a:t>
            </a:r>
            <a:endParaRPr lang="en-US" sz="1583" dirty="0">
              <a:solidFill>
                <a:srgbClr val="000000"/>
              </a:solidFill>
              <a:latin typeface="Poppins" panose="00000500000000000000" pitchFamily="2" charset="0"/>
              <a:ea typeface="Roboto Light"/>
              <a:cs typeface="Poppins" panose="00000500000000000000" pitchFamily="2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39859" y="3031879"/>
            <a:ext cx="5198608" cy="39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Tiered monetization</a:t>
            </a:r>
            <a:r>
              <a:rPr lang="en-US" sz="1292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through advanced </a:t>
            </a:r>
            <a:r>
              <a:rPr lang="en-US" sz="1292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personalization </a:t>
            </a: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features, </a:t>
            </a:r>
            <a:r>
              <a:rPr lang="en-US" sz="1292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enterprise licensing</a:t>
            </a:r>
            <a:r>
              <a:rPr lang="en-US" sz="1292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value-added services for power users.</a:t>
            </a:r>
            <a:endParaRPr lang="en-US" sz="1292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3E9ADF-3527-F38E-C061-9AA42DF0F9ED}"/>
              </a:ext>
            </a:extLst>
          </p:cNvPr>
          <p:cNvSpPr/>
          <p:nvPr/>
        </p:nvSpPr>
        <p:spPr>
          <a:xfrm>
            <a:off x="10730364" y="6455768"/>
            <a:ext cx="1429043" cy="3635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31" name="Picture 30" descr="A diagram of a market funnel&#10;&#10;AI-generated content may be incorrect.">
            <a:extLst>
              <a:ext uri="{FF2B5EF4-FFF2-40B4-BE49-F238E27FC236}">
                <a16:creationId xmlns:a16="http://schemas.microsoft.com/office/drawing/2014/main" id="{5A933F3D-8310-A071-4D53-D23AAD5CA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33" b="6784"/>
          <a:stretch>
            <a:fillRect/>
          </a:stretch>
        </p:blipFill>
        <p:spPr>
          <a:xfrm>
            <a:off x="5934459" y="2313540"/>
            <a:ext cx="6253838" cy="415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7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426" y="466480"/>
            <a:ext cx="1120760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833" b="1" dirty="0">
                <a:solidFill>
                  <a:schemeClr val="bg1"/>
                </a:solidFill>
                <a:latin typeface="Poppins Light"/>
                <a:ea typeface="Poppins Light" pitchFamily="34" charset="-122"/>
                <a:cs typeface="Poppins Light"/>
              </a:rPr>
              <a:t>SWOT — Cortex's</a:t>
            </a:r>
            <a:r>
              <a:rPr lang="en-US" sz="2833" b="1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 </a:t>
            </a:r>
            <a:r>
              <a:rPr lang="en-US" sz="2833" b="1" dirty="0">
                <a:solidFill>
                  <a:srgbClr val="92D050"/>
                </a:solidFill>
                <a:latin typeface="Poppins Light"/>
                <a:ea typeface="Poppins Light" pitchFamily="34" charset="-122"/>
                <a:cs typeface="Poppins Light"/>
              </a:rPr>
              <a:t>Strengths</a:t>
            </a:r>
            <a:r>
              <a:rPr lang="en-US" sz="2833" b="1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, </a:t>
            </a:r>
            <a:r>
              <a:rPr lang="en-US" sz="2833" b="1" dirty="0">
                <a:solidFill>
                  <a:srgbClr val="F54E59"/>
                </a:solidFill>
                <a:latin typeface="Poppins Light"/>
                <a:ea typeface="Poppins Light" pitchFamily="34" charset="-122"/>
                <a:cs typeface="Poppins Light"/>
              </a:rPr>
              <a:t>Weaknesses</a:t>
            </a:r>
            <a:r>
              <a:rPr lang="en-US" sz="2833" b="1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, </a:t>
            </a:r>
            <a:r>
              <a:rPr lang="en-US" sz="2833" b="1" dirty="0">
                <a:solidFill>
                  <a:srgbClr val="92D050"/>
                </a:solidFill>
                <a:latin typeface="Poppins Light"/>
                <a:ea typeface="Poppins Light" pitchFamily="34" charset="-122"/>
                <a:cs typeface="Poppins Light"/>
              </a:rPr>
              <a:t>Opportunities</a:t>
            </a:r>
            <a:r>
              <a:rPr lang="en-US" sz="2833" b="1" dirty="0">
                <a:solidFill>
                  <a:srgbClr val="C9F0ED"/>
                </a:solidFill>
                <a:latin typeface="Poppins Light"/>
                <a:ea typeface="Poppins Light" pitchFamily="34" charset="-122"/>
                <a:cs typeface="Poppins Light"/>
              </a:rPr>
              <a:t>, </a:t>
            </a:r>
            <a:r>
              <a:rPr lang="en-US" sz="2833" b="1" dirty="0">
                <a:solidFill>
                  <a:srgbClr val="F54E59"/>
                </a:solidFill>
                <a:latin typeface="Poppins Light"/>
                <a:ea typeface="Poppins Light" pitchFamily="34" charset="-122"/>
                <a:cs typeface="Poppins Light"/>
              </a:rPr>
              <a:t>Threats</a:t>
            </a:r>
            <a:endParaRPr lang="en-US" sz="2833" b="1" dirty="0">
              <a:solidFill>
                <a:srgbClr val="F54E59"/>
              </a:solidFill>
              <a:latin typeface="Poppins Light"/>
              <a:ea typeface="Calibri"/>
              <a:cs typeface="Poppins Ligh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EDAB67-1802-65EA-EDCF-31729441D5CD}"/>
              </a:ext>
            </a:extLst>
          </p:cNvPr>
          <p:cNvGrpSpPr/>
          <p:nvPr/>
        </p:nvGrpSpPr>
        <p:grpSpPr>
          <a:xfrm>
            <a:off x="2118181" y="1121896"/>
            <a:ext cx="7707428" cy="3884921"/>
            <a:chOff x="2441636" y="1474694"/>
            <a:chExt cx="8477726" cy="424303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1636" y="1474694"/>
              <a:ext cx="8477726" cy="424303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2605537" y="3449037"/>
              <a:ext cx="1592195" cy="238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375"/>
                </a:lnSpc>
              </a:pPr>
              <a:r>
                <a:rPr lang="en-US" sz="1333" dirty="0">
                  <a:solidFill>
                    <a:srgbClr val="FFFFF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Threats</a:t>
              </a:r>
              <a:endParaRPr lang="en-US" sz="1333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Text 2"/>
            <p:cNvSpPr/>
            <p:nvPr/>
          </p:nvSpPr>
          <p:spPr>
            <a:xfrm>
              <a:off x="5729576" y="5356464"/>
              <a:ext cx="1905552" cy="238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375"/>
                </a:lnSpc>
              </a:pPr>
              <a:r>
                <a:rPr lang="en-US" sz="1333">
                  <a:solidFill>
                    <a:srgbClr val="FFFFF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Opportunities</a:t>
              </a:r>
              <a:endParaRPr lang="en-US" sz="1333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9280519" y="3449037"/>
              <a:ext cx="1592196" cy="238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375"/>
                </a:lnSpc>
              </a:pPr>
              <a:r>
                <a:rPr lang="en-US" sz="1333">
                  <a:solidFill>
                    <a:srgbClr val="FFFFF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Weaknesses</a:t>
              </a:r>
              <a:endParaRPr lang="en-US" sz="1333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5724811" y="1648840"/>
              <a:ext cx="1905553" cy="238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375"/>
                </a:lnSpc>
              </a:pPr>
              <a:r>
                <a:rPr lang="en-US" sz="1333">
                  <a:solidFill>
                    <a:srgbClr val="FFFFF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Strengths</a:t>
              </a:r>
              <a:endParaRPr lang="en-US" sz="1333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4817292" y="4413479"/>
              <a:ext cx="1634541" cy="38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5"/>
                </a:lnSpc>
              </a:pPr>
              <a:r>
                <a:rPr lang="en-US" sz="100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Opportunities: Ecosystem integration</a:t>
              </a:r>
              <a:endParaRPr lang="en-US"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7061610" y="4421949"/>
              <a:ext cx="1634540" cy="38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5"/>
                </a:lnSpc>
              </a:pPr>
              <a:r>
                <a:rPr lang="en-US" sz="100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Threats: Advancing cloud AI</a:t>
              </a:r>
              <a:endParaRPr lang="en-US"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2" name="Text 7"/>
            <p:cNvSpPr/>
            <p:nvPr/>
          </p:nvSpPr>
          <p:spPr>
            <a:xfrm>
              <a:off x="7061610" y="2855161"/>
              <a:ext cx="1634540" cy="38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5"/>
                </a:lnSpc>
              </a:pPr>
              <a:r>
                <a:rPr lang="en-US" sz="100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Weaknesses: Local compute limits</a:t>
              </a:r>
              <a:endParaRPr lang="en-US"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4" name="Text 8"/>
            <p:cNvSpPr/>
            <p:nvPr/>
          </p:nvSpPr>
          <p:spPr>
            <a:xfrm>
              <a:off x="4766477" y="2855161"/>
              <a:ext cx="1634541" cy="38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5"/>
                </a:lnSpc>
              </a:pPr>
              <a:r>
                <a:rPr lang="en-US" sz="1000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Strengths: On-device privacy</a:t>
              </a:r>
              <a:endPara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6" name="Text 9"/>
          <p:cNvSpPr/>
          <p:nvPr/>
        </p:nvSpPr>
        <p:spPr>
          <a:xfrm>
            <a:off x="540706" y="5271224"/>
            <a:ext cx="1576476" cy="23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67" dirty="0">
                <a:solidFill>
                  <a:srgbClr val="F2F2F3"/>
                </a:solidFill>
                <a:latin typeface="Poppins" panose="00000500000000000000" pitchFamily="2" charset="0"/>
                <a:ea typeface="Poppins Light" pitchFamily="34" charset="-122"/>
                <a:cs typeface="Poppins" panose="00000500000000000000" pitchFamily="2" charset="0"/>
              </a:rPr>
              <a:t>Internal Factors</a:t>
            </a:r>
            <a:endParaRPr lang="en-US" sz="16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40706" y="5654771"/>
            <a:ext cx="5397026" cy="59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5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Strengths:</a:t>
            </a:r>
            <a:r>
              <a:rPr lang="en-US" sz="125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Unmatched privacy, intelligent semantic understanding, </a:t>
            </a:r>
            <a:endParaRPr lang="en-US" sz="125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542"/>
              </a:lnSpc>
            </a:pPr>
            <a:r>
              <a:rPr lang="en-US" sz="125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proactive assistance</a:t>
            </a:r>
            <a:endParaRPr lang="en-US" sz="1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31503" y="6258126"/>
            <a:ext cx="5424632" cy="23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50" b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Weaknesses:</a:t>
            </a:r>
            <a:r>
              <a:rPr lang="en-US" sz="125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Device performance constraints, initial user learning curve</a:t>
            </a:r>
            <a:endParaRPr lang="en-US" sz="125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174980" y="5271224"/>
            <a:ext cx="1576476" cy="22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67" dirty="0">
                <a:solidFill>
                  <a:srgbClr val="F2F2F3"/>
                </a:solidFill>
                <a:latin typeface="Poppins" panose="00000500000000000000" pitchFamily="2" charset="0"/>
                <a:ea typeface="Poppins Light" pitchFamily="34" charset="-122"/>
                <a:cs typeface="Poppins" panose="00000500000000000000" pitchFamily="2" charset="0"/>
              </a:rPr>
              <a:t>External Factors</a:t>
            </a:r>
            <a:endParaRPr lang="en-US" sz="16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6174979" y="5636064"/>
            <a:ext cx="5424632" cy="45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50" b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Opportunities:</a:t>
            </a:r>
            <a:r>
              <a:rPr lang="en-US" sz="125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Samsung ecosystem dominance, enterprise/vertical expansion, family productivity tools</a:t>
            </a:r>
            <a:endParaRPr lang="en-US" sz="125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174979" y="6209096"/>
            <a:ext cx="5424632" cy="549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50" b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Threats:</a:t>
            </a:r>
            <a:r>
              <a:rPr lang="en-US" sz="125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Rapid cloud AI advancement, evolving regulations, competitive browser </a:t>
            </a:r>
            <a:endParaRPr lang="en-US" sz="125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542"/>
              </a:lnSpc>
            </a:pPr>
            <a:r>
              <a:rPr lang="en-US" sz="125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innovation</a:t>
            </a:r>
            <a:endParaRPr lang="en-US" sz="125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A093CE-4979-89B2-A812-5CF55B9EF52E}"/>
              </a:ext>
            </a:extLst>
          </p:cNvPr>
          <p:cNvSpPr/>
          <p:nvPr/>
        </p:nvSpPr>
        <p:spPr>
          <a:xfrm>
            <a:off x="10730364" y="6455768"/>
            <a:ext cx="1429043" cy="3635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025CE7F-06FE-8B93-074A-C002830444DA}"/>
              </a:ext>
            </a:extLst>
          </p:cNvPr>
          <p:cNvCxnSpPr/>
          <p:nvPr/>
        </p:nvCxnSpPr>
        <p:spPr>
          <a:xfrm flipV="1">
            <a:off x="2242" y="5027520"/>
            <a:ext cx="12191999" cy="2689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208E0D-5CDA-5D44-616A-AD2FFFBC5C04}"/>
              </a:ext>
            </a:extLst>
          </p:cNvPr>
          <p:cNvCxnSpPr>
            <a:cxnSpLocks/>
          </p:cNvCxnSpPr>
          <p:nvPr/>
        </p:nvCxnSpPr>
        <p:spPr>
          <a:xfrm>
            <a:off x="540706" y="5505124"/>
            <a:ext cx="1726483" cy="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6E978E-FBE4-6597-DE53-1DA5767D5D39}"/>
              </a:ext>
            </a:extLst>
          </p:cNvPr>
          <p:cNvCxnSpPr>
            <a:cxnSpLocks/>
          </p:cNvCxnSpPr>
          <p:nvPr/>
        </p:nvCxnSpPr>
        <p:spPr>
          <a:xfrm>
            <a:off x="6151304" y="5505124"/>
            <a:ext cx="1768054" cy="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9225" y="496094"/>
            <a:ext cx="630723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3667" b="1">
                <a:solidFill>
                  <a:srgbClr val="92D050"/>
                </a:solidFill>
                <a:latin typeface="Poppins Light"/>
                <a:ea typeface="Poppins Light" pitchFamily="34" charset="-122"/>
                <a:cs typeface="Poppins Light"/>
              </a:rPr>
              <a:t>Building Value for Samsung</a:t>
            </a:r>
            <a:endParaRPr lang="en-US" sz="3667" b="1">
              <a:solidFill>
                <a:srgbClr val="92D050"/>
              </a:solidFill>
              <a:latin typeface="Poppins Light"/>
              <a:ea typeface="Calibri"/>
              <a:cs typeface="Poppins Ligh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2817DB-C318-16A5-5C82-EC95E9D737B8}"/>
              </a:ext>
            </a:extLst>
          </p:cNvPr>
          <p:cNvGrpSpPr/>
          <p:nvPr/>
        </p:nvGrpSpPr>
        <p:grpSpPr>
          <a:xfrm>
            <a:off x="370577" y="1741720"/>
            <a:ext cx="6012416" cy="4740339"/>
            <a:chOff x="793790" y="1577780"/>
            <a:chExt cx="7556421" cy="5930777"/>
          </a:xfrm>
        </p:grpSpPr>
        <p:sp>
          <p:nvSpPr>
            <p:cNvPr id="4" name="Shape 1"/>
            <p:cNvSpPr/>
            <p:nvPr/>
          </p:nvSpPr>
          <p:spPr>
            <a:xfrm>
              <a:off x="793790" y="1577780"/>
              <a:ext cx="7556421" cy="1351002"/>
            </a:xfrm>
            <a:prstGeom prst="roundRect">
              <a:avLst>
                <a:gd name="adj" fmla="val 5641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667"/>
            </a:p>
          </p:txBody>
        </p:sp>
        <p:sp>
          <p:nvSpPr>
            <p:cNvPr id="5" name="Text 2"/>
            <p:cNvSpPr/>
            <p:nvPr/>
          </p:nvSpPr>
          <p:spPr>
            <a:xfrm>
              <a:off x="982861" y="1749266"/>
              <a:ext cx="2606397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500" dirty="0">
                  <a:solidFill>
                    <a:srgbClr val="E5E0DF"/>
                  </a:solidFill>
                  <a:latin typeface="Poppins" panose="020B0502040204020203" pitchFamily="2" charset="0"/>
                  <a:ea typeface="Poppins Light" pitchFamily="34" charset="-122"/>
                  <a:cs typeface="Poppins" panose="020B0502040204020203" pitchFamily="2" charset="0"/>
                </a:rPr>
                <a:t>Privacy-First</a:t>
              </a:r>
              <a:r>
                <a:rPr lang="en-US" sz="1500" dirty="0">
                  <a:solidFill>
                    <a:srgbClr val="E5E0DF"/>
                  </a:solidFill>
                  <a:latin typeface="Poppins Light" pitchFamily="34" charset="0"/>
                  <a:ea typeface="Poppins Light" pitchFamily="34" charset="-122"/>
                  <a:cs typeface="Poppins Light" pitchFamily="34" charset="-120"/>
                </a:rPr>
                <a:t> Innovation</a:t>
              </a:r>
              <a:endParaRPr lang="en-US" sz="15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982861" y="2141577"/>
              <a:ext cx="7178278" cy="5805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75"/>
                </a:lnSpc>
              </a:pPr>
              <a:r>
                <a:rPr lang="en-US" sz="1333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Nati</a:t>
              </a:r>
              <a:r>
                <a:rPr lang="en-US" sz="1250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v</a:t>
              </a:r>
              <a:r>
                <a:rPr lang="en-US" sz="1333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 AI agent </a:t>
              </a: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 Samsung Browser and DeX would position Samsung as the leader in secure, intelligent browsing</a:t>
              </a:r>
              <a:endParaRPr lang="en-US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7" name="Shape 4"/>
            <p:cNvSpPr/>
            <p:nvPr/>
          </p:nvSpPr>
          <p:spPr>
            <a:xfrm>
              <a:off x="793790" y="3092648"/>
              <a:ext cx="7556421" cy="1351002"/>
            </a:xfrm>
            <a:prstGeom prst="roundRect">
              <a:avLst>
                <a:gd name="adj" fmla="val 5641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667"/>
            </a:p>
          </p:txBody>
        </p:sp>
        <p:sp>
          <p:nvSpPr>
            <p:cNvPr id="8" name="Text 5"/>
            <p:cNvSpPr/>
            <p:nvPr/>
          </p:nvSpPr>
          <p:spPr>
            <a:xfrm>
              <a:off x="982861" y="3281720"/>
              <a:ext cx="2466737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500" dirty="0">
                  <a:solidFill>
                    <a:srgbClr val="E5E0D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Cross-Device Synergy</a:t>
              </a:r>
              <a:endParaRPr lang="en-US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982861" y="3674031"/>
              <a:ext cx="7178278" cy="5805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75"/>
                </a:lnSpc>
              </a:pP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Offline sync across </a:t>
              </a:r>
              <a:r>
                <a:rPr lang="en-US" sz="1333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phones</a:t>
              </a: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</a:t>
              </a:r>
              <a:r>
                <a:rPr lang="en-US" sz="1333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tablets</a:t>
              </a: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and </a:t>
              </a:r>
              <a:r>
                <a:rPr lang="en-US" sz="1333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laptops </a:t>
              </a: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creates seamless experiences throughout the Samsung ecosystem</a:t>
              </a:r>
              <a:endParaRPr lang="en-US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793790" y="4625102"/>
              <a:ext cx="7556421" cy="1351002"/>
            </a:xfrm>
            <a:prstGeom prst="roundRect">
              <a:avLst>
                <a:gd name="adj" fmla="val 5641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667"/>
            </a:p>
          </p:txBody>
        </p:sp>
        <p:sp>
          <p:nvSpPr>
            <p:cNvPr id="11" name="Text 8"/>
            <p:cNvSpPr/>
            <p:nvPr/>
          </p:nvSpPr>
          <p:spPr>
            <a:xfrm>
              <a:off x="982861" y="4814173"/>
              <a:ext cx="2365415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500" dirty="0">
                  <a:solidFill>
                    <a:srgbClr val="E5E0D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Revenue Opportunity</a:t>
              </a:r>
              <a:endParaRPr lang="en-US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982861" y="5206484"/>
              <a:ext cx="7178278" cy="5805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75"/>
                </a:lnSpc>
              </a:pPr>
              <a:r>
                <a:rPr lang="en-US" sz="1333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Premium features </a:t>
              </a: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 power users unlock monetization while maintaining free core functionality</a:t>
              </a:r>
              <a:endParaRPr lang="en-US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3" name="Shape 10"/>
            <p:cNvSpPr/>
            <p:nvPr/>
          </p:nvSpPr>
          <p:spPr>
            <a:xfrm>
              <a:off x="793790" y="6157555"/>
              <a:ext cx="7556421" cy="1351002"/>
            </a:xfrm>
            <a:prstGeom prst="roundRect">
              <a:avLst>
                <a:gd name="adj" fmla="val 5641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 sz="1667"/>
            </a:p>
          </p:txBody>
        </p:sp>
        <p:sp>
          <p:nvSpPr>
            <p:cNvPr id="14" name="Text 11"/>
            <p:cNvSpPr/>
            <p:nvPr/>
          </p:nvSpPr>
          <p:spPr>
            <a:xfrm>
              <a:off x="982861" y="6346627"/>
              <a:ext cx="2392799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500" dirty="0">
                  <a:solidFill>
                    <a:srgbClr val="E5E0DF"/>
                  </a:solidFill>
                  <a:latin typeface="Poppins" panose="00000500000000000000" pitchFamily="2" charset="0"/>
                  <a:ea typeface="Poppins Light" pitchFamily="34" charset="-122"/>
                  <a:cs typeface="Poppins" panose="00000500000000000000" pitchFamily="2" charset="0"/>
                </a:rPr>
                <a:t>Market Differentiation</a:t>
              </a:r>
              <a:endParaRPr lang="en-US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982861" y="6738938"/>
              <a:ext cx="7178278" cy="5805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75"/>
                </a:lnSpc>
              </a:pP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Reinforces Samsung's commitment to </a:t>
              </a:r>
              <a:r>
                <a:rPr lang="en-US" sz="1333" b="1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secure digital innovation </a:t>
              </a:r>
              <a:r>
                <a:rPr lang="en-US" sz="1333" dirty="0">
                  <a:solidFill>
                    <a:srgbClr val="E5E0D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 an era of growing privacy concerns</a:t>
              </a:r>
              <a:endParaRPr lang="en-US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6B984B0-85AB-6AD1-E500-E22B16F3E937}"/>
              </a:ext>
            </a:extLst>
          </p:cNvPr>
          <p:cNvSpPr/>
          <p:nvPr/>
        </p:nvSpPr>
        <p:spPr>
          <a:xfrm>
            <a:off x="10730364" y="6455768"/>
            <a:ext cx="1429043" cy="3635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9" name="Picture 18" descr="A diagram of a company&amp;#39;s market&#10;&#10;AI-generated content may be incorrect.">
            <a:extLst>
              <a:ext uri="{FF2B5EF4-FFF2-40B4-BE49-F238E27FC236}">
                <a16:creationId xmlns:a16="http://schemas.microsoft.com/office/drawing/2014/main" id="{93D7C8D9-5A61-D8C9-50C6-FA9C3199E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85" r="-360" b="5188"/>
          <a:stretch>
            <a:fillRect/>
          </a:stretch>
        </p:blipFill>
        <p:spPr>
          <a:xfrm>
            <a:off x="6533307" y="1506855"/>
            <a:ext cx="5535898" cy="52153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8007</TotalTime>
  <Words>1293</Words>
  <Application>Microsoft Office PowerPoint</Application>
  <PresentationFormat>Widescreen</PresentationFormat>
  <Paragraphs>164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Poppins</vt:lpstr>
      <vt:lpstr>Poppins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AHSAN BAGSARIA - 240907622 - MITMPL</dc:creator>
  <cp:lastModifiedBy>MOHAMMED AHSAN BAGSARIA - 240907622 - MITMPL</cp:lastModifiedBy>
  <cp:revision>11</cp:revision>
  <dcterms:created xsi:type="dcterms:W3CDTF">2025-12-11T09:02:22Z</dcterms:created>
  <dcterms:modified xsi:type="dcterms:W3CDTF">2026-01-05T14:34:21Z</dcterms:modified>
</cp:coreProperties>
</file>